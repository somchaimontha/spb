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1" r:id="rId4"/>
    <p:sldId id="269" r:id="rId5"/>
    <p:sldId id="257" r:id="rId6"/>
    <p:sldId id="258" r:id="rId7"/>
    <p:sldId id="259" r:id="rId8"/>
    <p:sldId id="260" r:id="rId9"/>
    <p:sldId id="262" r:id="rId10"/>
    <p:sldId id="263" r:id="rId11"/>
    <p:sldId id="265" r:id="rId12"/>
    <p:sldId id="266" r:id="rId13"/>
    <p:sldId id="267" r:id="rId14"/>
    <p:sldId id="264" r:id="rId15"/>
  </p:sldIdLst>
  <p:sldSz cx="9144000" cy="5143500" type="screen16x9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66FFFF"/>
    <a:srgbClr val="0000FF"/>
    <a:srgbClr val="990000"/>
    <a:srgbClr val="008000"/>
    <a:srgbClr val="CC66FF"/>
    <a:srgbClr val="CC00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คลิกเพื่อแก้ไขลักษณะชื่อเรื่องรองต้นแบบ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623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175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912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962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144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427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4726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57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718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450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4989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EFD6A-176D-4C6E-B1BE-30456A4D17CD}" type="datetimeFigureOut">
              <a:rPr lang="th-TH" smtClean="0"/>
              <a:t>29/01/65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F6715-480A-458C-9493-8852312903B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336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123478"/>
            <a:ext cx="7772400" cy="1440160"/>
          </a:xfrm>
        </p:spPr>
        <p:txBody>
          <a:bodyPr>
            <a:normAutofit/>
          </a:bodyPr>
          <a:lstStyle/>
          <a:p>
            <a:r>
              <a:rPr lang="th-TH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การบริหารจัดการงบประมาณ</a:t>
            </a:r>
            <a:br>
              <a:rPr lang="th-TH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ของงานวางแผนและงบประมาณ</a:t>
            </a:r>
            <a:endParaRPr lang="th-TH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491630"/>
            <a:ext cx="733425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33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ปัญหาที่พบ </a:t>
            </a:r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ในการ</a:t>
            </a:r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บริหารจัดการงบประมาณ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ชื่อเรื่อง 1"/>
          <p:cNvSpPr txBox="1">
            <a:spLocks/>
          </p:cNvSpPr>
          <p:nvPr/>
        </p:nvSpPr>
        <p:spPr>
          <a:xfrm>
            <a:off x="611560" y="1252348"/>
            <a:ext cx="8424936" cy="33356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จำไม่ได้ว่าได้ประมาณการค่าใช้จ่ายในแผนแต่ละกิจกรรม/ภารกิจ ต่างๆ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จัดงบไว้เท่าไร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จำไม่ได้ว่าได้จัดสรรเงินตาม </a:t>
            </a:r>
            <a:r>
              <a:rPr lang="th-TH" sz="2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งป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ม.ที่ได้รับ ให้แก่กิจกรรม/ภารกิจ ต่างๆ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ไปแล้วเท่าไร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ไม่รู้ว่ากิจกรรม/ภารกิจ อะไรบ้างที่ได้เบิกจ่ายไปแล้ว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ไม่รู้ว่างบที่ได้รับมีเท่าไร ใช้ไปแล้วเท่าไร และเหลือเท่าไร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5.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หากมีการเปลี่ยนแปลงกิจกรรม/ภารกิจในแผน ไม่รู้ว่าจะปรับโยก </a:t>
            </a:r>
            <a:r>
              <a:rPr lang="th-TH" sz="2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งป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ม.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จากไหนไปไหนได้บ้าง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6.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การเงินจ่ายเงินไม่ตรงกับกิจกรรม/ภารกิจในแผน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7.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ฯลฯ .......</a:t>
            </a:r>
            <a:r>
              <a:rPr lang="th-TH" sz="2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สั้บป๊ะ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....เมาหัว...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!!!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77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วัตถุประสงค์ของการบริหารจัดการงบประมาณ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ชื่อเรื่อง 1"/>
          <p:cNvSpPr txBox="1">
            <a:spLocks/>
          </p:cNvSpPr>
          <p:nvPr/>
        </p:nvSpPr>
        <p:spPr>
          <a:xfrm>
            <a:off x="611560" y="1252348"/>
            <a:ext cx="8424936" cy="17514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เพื่อให้</a:t>
            </a:r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การบริหารจัดการ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งบประมาณมีประสิทธิภาพ</a:t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เพื่อให้</a:t>
            </a:r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นำงบประมาณไปใช้ในภาระงานหรือกิจกรรมต่างๆได้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ตาม</a:t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ประเภท</a:t>
            </a:r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ของงบประมาณ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เพื่อให้เกิดผลสัมฤทธิ์ตามเป้าหมายของสถานศึกษา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22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043608" y="2031690"/>
            <a:ext cx="1368152" cy="378042"/>
          </a:xfrm>
          <a:prstGeom prst="rect">
            <a:avLst/>
          </a:prstGeom>
          <a:solidFill>
            <a:srgbClr val="CC00CC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Input</a:t>
            </a:r>
            <a:endParaRPr lang="th-TH" sz="2000" dirty="0">
              <a:solidFill>
                <a:schemeClr val="bg1"/>
              </a:solidFill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2843808" y="2031690"/>
            <a:ext cx="1368152" cy="378042"/>
          </a:xfrm>
          <a:prstGeom prst="rect">
            <a:avLst/>
          </a:prstGeom>
          <a:solidFill>
            <a:srgbClr val="0066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Process</a:t>
            </a:r>
            <a:endParaRPr lang="th-TH" sz="2000" dirty="0">
              <a:solidFill>
                <a:schemeClr val="bg1"/>
              </a:solidFill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4644008" y="2031690"/>
            <a:ext cx="1368152" cy="378042"/>
          </a:xfrm>
          <a:prstGeom prst="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Output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444208" y="2031690"/>
            <a:ext cx="1368152" cy="378042"/>
          </a:xfrm>
          <a:prstGeom prst="rect">
            <a:avLst/>
          </a:prstGeom>
          <a:solidFill>
            <a:srgbClr val="FF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Impact</a:t>
            </a:r>
            <a:endParaRPr lang="th-TH" sz="2000" dirty="0">
              <a:solidFill>
                <a:schemeClr val="bg1"/>
              </a:solidFill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4644008" y="2895786"/>
            <a:ext cx="1368152" cy="37804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Feed Back</a:t>
            </a:r>
            <a:endParaRPr lang="th-TH" sz="2000" dirty="0">
              <a:solidFill>
                <a:schemeClr val="tx1"/>
              </a:solidFill>
            </a:endParaRPr>
          </a:p>
        </p:txBody>
      </p:sp>
      <p:cxnSp>
        <p:nvCxnSpPr>
          <p:cNvPr id="10" name="ลูกศรเชื่อมต่อแบบตรง 9"/>
          <p:cNvCxnSpPr>
            <a:stCxn id="4" idx="3"/>
            <a:endCxn id="5" idx="1"/>
          </p:cNvCxnSpPr>
          <p:nvPr/>
        </p:nvCxnSpPr>
        <p:spPr>
          <a:xfrm>
            <a:off x="2411760" y="2220711"/>
            <a:ext cx="43204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ลูกศรเชื่อมต่อแบบตรง 11"/>
          <p:cNvCxnSpPr>
            <a:stCxn id="5" idx="3"/>
            <a:endCxn id="6" idx="1"/>
          </p:cNvCxnSpPr>
          <p:nvPr/>
        </p:nvCxnSpPr>
        <p:spPr>
          <a:xfrm>
            <a:off x="4211960" y="2220711"/>
            <a:ext cx="43204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/>
          <p:cNvCxnSpPr>
            <a:stCxn id="6" idx="3"/>
            <a:endCxn id="7" idx="1"/>
          </p:cNvCxnSpPr>
          <p:nvPr/>
        </p:nvCxnSpPr>
        <p:spPr>
          <a:xfrm>
            <a:off x="6012160" y="2220711"/>
            <a:ext cx="43204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/>
          <p:cNvCxnSpPr>
            <a:stCxn id="6" idx="2"/>
            <a:endCxn id="8" idx="0"/>
          </p:cNvCxnSpPr>
          <p:nvPr/>
        </p:nvCxnSpPr>
        <p:spPr>
          <a:xfrm>
            <a:off x="5328084" y="2409732"/>
            <a:ext cx="0" cy="4860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ตัวเชื่อมต่อตรง 17"/>
          <p:cNvCxnSpPr>
            <a:stCxn id="7" idx="2"/>
          </p:cNvCxnSpPr>
          <p:nvPr/>
        </p:nvCxnSpPr>
        <p:spPr>
          <a:xfrm>
            <a:off x="7128284" y="2409733"/>
            <a:ext cx="0" cy="6750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ลูกศรเชื่อมต่อแบบตรง 19"/>
          <p:cNvCxnSpPr>
            <a:endCxn id="8" idx="3"/>
          </p:cNvCxnSpPr>
          <p:nvPr/>
        </p:nvCxnSpPr>
        <p:spPr>
          <a:xfrm flipH="1">
            <a:off x="6012160" y="3084807"/>
            <a:ext cx="111612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ตัวเชื่อมต่อตรง 21"/>
          <p:cNvCxnSpPr>
            <a:stCxn id="8" idx="1"/>
          </p:cNvCxnSpPr>
          <p:nvPr/>
        </p:nvCxnSpPr>
        <p:spPr>
          <a:xfrm flipH="1">
            <a:off x="1727684" y="3084807"/>
            <a:ext cx="29163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ลูกศรเชื่อมต่อแบบตรง 23"/>
          <p:cNvCxnSpPr>
            <a:endCxn id="4" idx="2"/>
          </p:cNvCxnSpPr>
          <p:nvPr/>
        </p:nvCxnSpPr>
        <p:spPr>
          <a:xfrm flipV="1">
            <a:off x="1727684" y="2409733"/>
            <a:ext cx="0" cy="6750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ลูกศรเชื่อมต่อแบบตรง 25"/>
          <p:cNvCxnSpPr>
            <a:endCxn id="5" idx="2"/>
          </p:cNvCxnSpPr>
          <p:nvPr/>
        </p:nvCxnSpPr>
        <p:spPr>
          <a:xfrm flipV="1">
            <a:off x="3527884" y="2409733"/>
            <a:ext cx="0" cy="6750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43729" y="245635"/>
            <a:ext cx="10631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ผลผลิต</a:t>
            </a:r>
            <a: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ปวช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ปวส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ระยะสั้น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สิ่งประดิษฐ์ฯ</a:t>
            </a:r>
          </a:p>
          <a:p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72298" y="244016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คุณภาพ</a:t>
            </a:r>
            <a: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ความรู้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ทักษะ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คุณธรรม จริยธรรม</a:t>
            </a:r>
          </a:p>
          <a:p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ค่านิยมที่พึงประสงค์</a:t>
            </a:r>
          </a:p>
          <a:p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44" name="ลูกศรเชื่อมต่อแบบตรง 43"/>
          <p:cNvCxnSpPr/>
          <p:nvPr/>
        </p:nvCxnSpPr>
        <p:spPr>
          <a:xfrm flipH="1">
            <a:off x="5796136" y="1347614"/>
            <a:ext cx="432048" cy="5760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79895" y="142295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+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56176" y="3165816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ความ</a:t>
            </a:r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พึงพอใจ/เชื่อมั่น/ศรัทธา</a:t>
            </a:r>
            <a: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นักเรียน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ผู้ปกครอง 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ครูและบุคลากร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ชุมชน / สังคม</a:t>
            </a:r>
          </a:p>
          <a:p>
            <a:pPr marL="171450" indent="-171450">
              <a:buFontTx/>
              <a:buChar char="-"/>
            </a:pP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สถานประกอบการ /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ตลาดแรงงาน</a:t>
            </a:r>
            <a:endParaRPr lang="th-TH" sz="1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47" name="ลูกศรเชื่อมต่อแบบตรง 46"/>
          <p:cNvCxnSpPr/>
          <p:nvPr/>
        </p:nvCxnSpPr>
        <p:spPr>
          <a:xfrm flipH="1" flipV="1">
            <a:off x="7308308" y="2517744"/>
            <a:ext cx="347169" cy="5670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ลูกศรเชื่อมต่อแบบตรง 47"/>
          <p:cNvCxnSpPr/>
          <p:nvPr/>
        </p:nvCxnSpPr>
        <p:spPr>
          <a:xfrm flipH="1">
            <a:off x="3527884" y="1789897"/>
            <a:ext cx="129354" cy="2057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15355" y="519524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ระเบียบ สอศ.ว่าด้วยการบริหาร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สถานศึกษา พ.ศ.</a:t>
            </a:r>
            <a:r>
              <a:rPr lang="en-US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2552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การประกันคุณภาพภายใน</a:t>
            </a:r>
            <a:endParaRPr lang="en-US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การประกันคุณภาพภายนอก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หลักปรัชญาเศรษฐกิจพอเพียง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แผนพัฒนา/แผนปฏิบัติการ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ประจำปี</a:t>
            </a:r>
            <a:endParaRPr lang="th-TH" sz="1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3528" y="519524"/>
            <a:ext cx="1120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Money (</a:t>
            </a:r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เงิน)</a:t>
            </a:r>
            <a: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งบประมาณ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อุดหนุน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เงิน บกศ.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3529" y="2875316"/>
            <a:ext cx="1758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Material (</a:t>
            </a:r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วัสดุ)</a:t>
            </a:r>
            <a:r>
              <a:rPr lang="th-TH" sz="1200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อาคารสถานที่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ครุภัณฑ์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วัสดุฝึก / วัสดุสำนักงาน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5659" y="843560"/>
            <a:ext cx="1199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Man (</a:t>
            </a:r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คน)</a:t>
            </a:r>
            <a:r>
              <a:rPr lang="th-TH" sz="1200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นักเรียน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ครู / เจ้าหน้าที่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227" y="3848423"/>
            <a:ext cx="2567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Managment</a:t>
            </a:r>
            <a:r>
              <a:rPr lang="en-US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th-TH" sz="1200" b="1" dirty="0" smtClean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การบริหารจัดการ)</a:t>
            </a:r>
            <a: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th-TH" sz="1200" dirty="0">
                <a:solidFill>
                  <a:srgbClr val="000099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นโยบาย (</a:t>
            </a:r>
            <a:r>
              <a:rPr lang="en-US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Function, Agenda)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ภาระกิจการจัดตั้งสถานศึกษา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หน้าที่ตามภาระงาน</a:t>
            </a:r>
            <a:endParaRPr lang="th-TH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54" name="ลูกศรเชื่อมต่อแบบตรง 53"/>
          <p:cNvCxnSpPr/>
          <p:nvPr/>
        </p:nvCxnSpPr>
        <p:spPr>
          <a:xfrm>
            <a:off x="1043608" y="1512103"/>
            <a:ext cx="228256" cy="4115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ลูกศรเชื่อมต่อแบบตรง 54"/>
          <p:cNvCxnSpPr/>
          <p:nvPr/>
        </p:nvCxnSpPr>
        <p:spPr>
          <a:xfrm flipH="1">
            <a:off x="2051723" y="1605304"/>
            <a:ext cx="168481" cy="3183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ลูกศรเชื่อมต่อแบบตรง 55"/>
          <p:cNvCxnSpPr/>
          <p:nvPr/>
        </p:nvCxnSpPr>
        <p:spPr>
          <a:xfrm flipV="1">
            <a:off x="1043608" y="2517745"/>
            <a:ext cx="228256" cy="3575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ลูกศรเชื่อมต่อแบบตรง 56"/>
          <p:cNvCxnSpPr>
            <a:stCxn id="53" idx="0"/>
          </p:cNvCxnSpPr>
          <p:nvPr/>
        </p:nvCxnSpPr>
        <p:spPr>
          <a:xfrm flipH="1" flipV="1">
            <a:off x="2051720" y="2517746"/>
            <a:ext cx="197288" cy="13306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851920" y="3874918"/>
            <a:ext cx="21275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ข้อดี / จุดแข็ง ที่สามารถใช้</a:t>
            </a:r>
            <a:endParaRPr lang="en-US" sz="1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เป็นแบบอย่างในการปฏิบัติได้</a:t>
            </a:r>
            <a:endParaRPr lang="en-US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ข้อด้อย / จุดอ่อน ที่ต้องนำไป</a:t>
            </a:r>
          </a:p>
          <a:p>
            <a:r>
              <a:rPr lang="th-TH" sz="1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ทำการปรับปรุงแก้ไข</a:t>
            </a:r>
          </a:p>
        </p:txBody>
      </p:sp>
      <p:cxnSp>
        <p:nvCxnSpPr>
          <p:cNvPr id="59" name="ลูกศรเชื่อมต่อแบบตรง 58"/>
          <p:cNvCxnSpPr/>
          <p:nvPr/>
        </p:nvCxnSpPr>
        <p:spPr>
          <a:xfrm flipV="1">
            <a:off x="5184068" y="3435846"/>
            <a:ext cx="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24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รายการรับ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ชื่อเรื่อง 1"/>
          <p:cNvSpPr txBox="1">
            <a:spLocks/>
          </p:cNvSpPr>
          <p:nvPr/>
        </p:nvSpPr>
        <p:spPr>
          <a:xfrm>
            <a:off x="2843808" y="1131590"/>
            <a:ext cx="2304256" cy="1728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เงินงบประมาณ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</a:t>
            </a:r>
            <a:r>
              <a:rPr lang="th-TH" sz="2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ปวช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</a:t>
            </a:r>
            <a:r>
              <a:rPr lang="th-TH" sz="2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ปวส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ระยะสั้น</a:t>
            </a:r>
          </a:p>
        </p:txBody>
      </p:sp>
      <p:sp>
        <p:nvSpPr>
          <p:cNvPr id="5" name="ชื่อเรื่อง 1"/>
          <p:cNvSpPr txBox="1">
            <a:spLocks/>
          </p:cNvSpPr>
          <p:nvPr/>
        </p:nvSpPr>
        <p:spPr>
          <a:xfrm>
            <a:off x="5292080" y="1203598"/>
            <a:ext cx="3816424" cy="302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เงินอุดหนุน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ค่าบริหารจัดการ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ค่าหนังสือเรียน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ค่าเครื่องแบบนักเรียน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ค่ากิจกรรมพัฒนาผู้เรียน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ค่าอุปกรณ์การเรียน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ค่าเครื่องมือประจำตัว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โครงการตามนโยบาย</a:t>
            </a:r>
          </a:p>
        </p:txBody>
      </p:sp>
      <p:sp>
        <p:nvSpPr>
          <p:cNvPr id="6" name="ชื่อเรื่อง 1"/>
          <p:cNvSpPr txBox="1">
            <a:spLocks/>
          </p:cNvSpPr>
          <p:nvPr/>
        </p:nvSpPr>
        <p:spPr>
          <a:xfrm>
            <a:off x="251520" y="1131590"/>
            <a:ext cx="2448272" cy="1728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solidFill>
                  <a:srgbClr val="CC00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เงินบำรุงการศึกษา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เงินรับฝาก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บกศ.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</a:t>
            </a: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6" y="2715766"/>
            <a:ext cx="2399130" cy="1599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ชื่อเรื่อง 1"/>
          <p:cNvSpPr txBox="1">
            <a:spLocks/>
          </p:cNvSpPr>
          <p:nvPr/>
        </p:nvSpPr>
        <p:spPr>
          <a:xfrm>
            <a:off x="5292080" y="4083918"/>
            <a:ext cx="3816424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solidFill>
                  <a:srgbClr val="008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เงินงบรายจ่ายอื่น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โครงการตามนโยบาย</a:t>
            </a:r>
          </a:p>
        </p:txBody>
      </p:sp>
      <p:sp>
        <p:nvSpPr>
          <p:cNvPr id="10" name="ชื่อเรื่อง 1"/>
          <p:cNvSpPr txBox="1">
            <a:spLocks/>
          </p:cNvSpPr>
          <p:nvPr/>
        </p:nvSpPr>
        <p:spPr>
          <a:xfrm>
            <a:off x="2843808" y="2716785"/>
            <a:ext cx="2952328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solidFill>
                  <a:srgbClr val="99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เงินงบลงทุน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ครุภัณฑ์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ที่ดิน สิ่งก่อสร้าง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251520" y="1275606"/>
            <a:ext cx="2448272" cy="36004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noFill/>
            </a:endParaRPr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2843808" y="1282032"/>
            <a:ext cx="2241792" cy="36004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noFill/>
            </a:endParaRPr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2843808" y="2879835"/>
            <a:ext cx="2241792" cy="36004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noFill/>
            </a:endParaRPr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5292080" y="1282518"/>
            <a:ext cx="1656184" cy="36004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noFill/>
            </a:endParaRPr>
          </a:p>
        </p:txBody>
      </p:sp>
      <p:sp>
        <p:nvSpPr>
          <p:cNvPr id="14" name="สี่เหลี่ยมผืนผ้า 13"/>
          <p:cNvSpPr/>
          <p:nvPr/>
        </p:nvSpPr>
        <p:spPr>
          <a:xfrm>
            <a:off x="5292080" y="4203997"/>
            <a:ext cx="2241792" cy="36004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8968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รายการจ่าย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ชื่อเรื่อง 1"/>
          <p:cNvSpPr txBox="1">
            <a:spLocks/>
          </p:cNvSpPr>
          <p:nvPr/>
        </p:nvSpPr>
        <p:spPr>
          <a:xfrm>
            <a:off x="6012160" y="1203598"/>
            <a:ext cx="3096344" cy="3312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งบบุคลากร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งบดำเนินงาน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- ค่าตอบแทน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ค่าใช้สอย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ค่าวัสดุ</a:t>
            </a:r>
          </a:p>
          <a:p>
            <a:pPr algn="l"/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- ค่าสาธารณูปโภค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งบลงทุน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งบอุดหนุน</a:t>
            </a:r>
          </a:p>
          <a:p>
            <a:pPr algn="l"/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งบรายจ่ายอื่น</a:t>
            </a: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88427"/>
            <a:ext cx="4963345" cy="344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091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แผนผังการบริหารจัดการงบประมาณ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ชื่อเรื่อง 1"/>
          <p:cNvSpPr txBox="1">
            <a:spLocks/>
          </p:cNvSpPr>
          <p:nvPr/>
        </p:nvSpPr>
        <p:spPr>
          <a:xfrm>
            <a:off x="261329" y="1923678"/>
            <a:ext cx="1728192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รายการรับ</a:t>
            </a: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ชื่อเรื่อง 1"/>
          <p:cNvSpPr txBox="1">
            <a:spLocks/>
          </p:cNvSpPr>
          <p:nvPr/>
        </p:nvSpPr>
        <p:spPr>
          <a:xfrm>
            <a:off x="2411760" y="1923678"/>
            <a:ext cx="2880320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จัดสรรตามภาระงาน</a:t>
            </a:r>
          </a:p>
        </p:txBody>
      </p:sp>
      <p:sp>
        <p:nvSpPr>
          <p:cNvPr id="7" name="ชื่อเรื่อง 1"/>
          <p:cNvSpPr txBox="1">
            <a:spLocks/>
          </p:cNvSpPr>
          <p:nvPr/>
        </p:nvSpPr>
        <p:spPr>
          <a:xfrm>
            <a:off x="5868144" y="1923678"/>
            <a:ext cx="2880320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ใช้จ่ายตามภาระงาน</a:t>
            </a:r>
          </a:p>
        </p:txBody>
      </p:sp>
      <p:sp>
        <p:nvSpPr>
          <p:cNvPr id="9" name="ชื่อเรื่อง 1"/>
          <p:cNvSpPr txBox="1">
            <a:spLocks/>
          </p:cNvSpPr>
          <p:nvPr/>
        </p:nvSpPr>
        <p:spPr>
          <a:xfrm>
            <a:off x="5857900" y="3003798"/>
            <a:ext cx="2890564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จัดทำรายงานตามภาระงาน</a:t>
            </a:r>
          </a:p>
        </p:txBody>
      </p:sp>
      <p:cxnSp>
        <p:nvCxnSpPr>
          <p:cNvPr id="4" name="ลูกศรเชื่อมต่อแบบตรง 3"/>
          <p:cNvCxnSpPr>
            <a:stCxn id="5" idx="3"/>
            <a:endCxn id="6" idx="1"/>
          </p:cNvCxnSpPr>
          <p:nvPr/>
        </p:nvCxnSpPr>
        <p:spPr>
          <a:xfrm>
            <a:off x="1989521" y="2211710"/>
            <a:ext cx="42223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ลูกศรเชื่อมต่อแบบตรง 10"/>
          <p:cNvCxnSpPr>
            <a:stCxn id="6" idx="3"/>
            <a:endCxn id="7" idx="1"/>
          </p:cNvCxnSpPr>
          <p:nvPr/>
        </p:nvCxnSpPr>
        <p:spPr>
          <a:xfrm>
            <a:off x="5292080" y="2211710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ลูกศรเชื่อมต่อแบบตรง 12"/>
          <p:cNvCxnSpPr>
            <a:stCxn id="7" idx="2"/>
          </p:cNvCxnSpPr>
          <p:nvPr/>
        </p:nvCxnSpPr>
        <p:spPr>
          <a:xfrm>
            <a:off x="7308304" y="249974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54" y="2724530"/>
            <a:ext cx="2759049" cy="1935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ชื่อเรื่อง 1"/>
          <p:cNvSpPr txBox="1">
            <a:spLocks/>
          </p:cNvSpPr>
          <p:nvPr/>
        </p:nvSpPr>
        <p:spPr>
          <a:xfrm>
            <a:off x="414961" y="2536110"/>
            <a:ext cx="1939311" cy="1619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เงินงบประมาณ</a:t>
            </a:r>
            <a:endParaRPr lang="th-TH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เงินอุดหนุน</a:t>
            </a:r>
          </a:p>
          <a:p>
            <a:pPr algn="l"/>
            <a:r>
              <a:rPr lang="en-US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เงินงบลงทุน</a:t>
            </a:r>
          </a:p>
          <a:p>
            <a:pPr algn="l"/>
            <a: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เงินงบรายจ่ายอื่น</a:t>
            </a:r>
            <a:b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th-TH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เงินบำรุงการศึกษา</a:t>
            </a:r>
          </a:p>
          <a:p>
            <a:pPr algn="l"/>
            <a:endParaRPr lang="th-TH" sz="16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ชื่อเรื่อง 1"/>
          <p:cNvSpPr txBox="1">
            <a:spLocks/>
          </p:cNvSpPr>
          <p:nvPr/>
        </p:nvSpPr>
        <p:spPr>
          <a:xfrm>
            <a:off x="5868144" y="4094309"/>
            <a:ext cx="2890564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สรุปจัดทำรายงานสรุป</a:t>
            </a:r>
          </a:p>
        </p:txBody>
      </p:sp>
      <p:cxnSp>
        <p:nvCxnSpPr>
          <p:cNvPr id="15" name="ลูกศรเชื่อมต่อแบบตรง 14"/>
          <p:cNvCxnSpPr/>
          <p:nvPr/>
        </p:nvCxnSpPr>
        <p:spPr>
          <a:xfrm>
            <a:off x="7318548" y="3590253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ชื่อเรื่อง 1"/>
          <p:cNvSpPr txBox="1">
            <a:spLocks/>
          </p:cNvSpPr>
          <p:nvPr/>
        </p:nvSpPr>
        <p:spPr>
          <a:xfrm>
            <a:off x="2395883" y="1203598"/>
            <a:ext cx="2880320" cy="576064"/>
          </a:xfrm>
          <a:prstGeom prst="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ประมาณการค่าใช้จ่าย</a:t>
            </a:r>
            <a:endParaRPr lang="th-TH" sz="24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7" name="ชื่อเรื่อง 1"/>
          <p:cNvSpPr txBox="1">
            <a:spLocks/>
          </p:cNvSpPr>
          <p:nvPr/>
        </p:nvSpPr>
        <p:spPr>
          <a:xfrm>
            <a:off x="251520" y="1203598"/>
            <a:ext cx="1728192" cy="576064"/>
          </a:xfrm>
          <a:prstGeom prst="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ประมาณการรายรับ</a:t>
            </a:r>
            <a:endParaRPr lang="th-TH" sz="24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18" name="ลูกศรเชื่อมต่อแบบตรง 17"/>
          <p:cNvCxnSpPr>
            <a:stCxn id="17" idx="3"/>
          </p:cNvCxnSpPr>
          <p:nvPr/>
        </p:nvCxnSpPr>
        <p:spPr>
          <a:xfrm>
            <a:off x="1979712" y="1491630"/>
            <a:ext cx="42223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ลูกศรเชื่อมต่อแบบตรง 9"/>
          <p:cNvCxnSpPr/>
          <p:nvPr/>
        </p:nvCxnSpPr>
        <p:spPr>
          <a:xfrm>
            <a:off x="3836043" y="166609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4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งานที่เกี่ยวข้องกับการบริหารจัดการงบประมาณ</a:t>
            </a:r>
            <a:endParaRPr lang="th-TH" sz="2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ชื่อเรื่อง 1"/>
          <p:cNvSpPr txBox="1">
            <a:spLocks/>
          </p:cNvSpPr>
          <p:nvPr/>
        </p:nvSpPr>
        <p:spPr>
          <a:xfrm>
            <a:off x="997116" y="1491630"/>
            <a:ext cx="2880320" cy="576064"/>
          </a:xfrm>
          <a:prstGeom prst="rect">
            <a:avLst/>
          </a:prstGeom>
          <a:solidFill>
            <a:srgbClr val="CC66FF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งานแผนฯ</a:t>
            </a: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ชื่อเรื่อง 1"/>
          <p:cNvSpPr txBox="1">
            <a:spLocks/>
          </p:cNvSpPr>
          <p:nvPr/>
        </p:nvSpPr>
        <p:spPr>
          <a:xfrm>
            <a:off x="5292080" y="1491630"/>
            <a:ext cx="2880320" cy="576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งานบัญชี</a:t>
            </a:r>
          </a:p>
        </p:txBody>
      </p:sp>
      <p:sp>
        <p:nvSpPr>
          <p:cNvPr id="7" name="ชื่อเรื่อง 1"/>
          <p:cNvSpPr txBox="1">
            <a:spLocks/>
          </p:cNvSpPr>
          <p:nvPr/>
        </p:nvSpPr>
        <p:spPr>
          <a:xfrm>
            <a:off x="5282077" y="3363838"/>
            <a:ext cx="2880320" cy="576064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งานการเงิน</a:t>
            </a:r>
          </a:p>
        </p:txBody>
      </p:sp>
      <p:sp>
        <p:nvSpPr>
          <p:cNvPr id="9" name="ชื่อเรื่อง 1"/>
          <p:cNvSpPr txBox="1">
            <a:spLocks/>
          </p:cNvSpPr>
          <p:nvPr/>
        </p:nvSpPr>
        <p:spPr>
          <a:xfrm>
            <a:off x="966478" y="3363838"/>
            <a:ext cx="2890564" cy="57606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งานพัสดุ</a:t>
            </a:r>
          </a:p>
        </p:txBody>
      </p:sp>
      <p:cxnSp>
        <p:nvCxnSpPr>
          <p:cNvPr id="10" name="ลูกศรเชื่อมต่อแบบตรง 9"/>
          <p:cNvCxnSpPr/>
          <p:nvPr/>
        </p:nvCxnSpPr>
        <p:spPr>
          <a:xfrm>
            <a:off x="3857042" y="2067694"/>
            <a:ext cx="1414644" cy="129614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/>
          <p:cNvCxnSpPr/>
          <p:nvPr/>
        </p:nvCxnSpPr>
        <p:spPr>
          <a:xfrm flipH="1">
            <a:off x="3857042" y="2067694"/>
            <a:ext cx="1414644" cy="129614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/>
          <p:cNvCxnSpPr/>
          <p:nvPr/>
        </p:nvCxnSpPr>
        <p:spPr>
          <a:xfrm>
            <a:off x="3859556" y="1851670"/>
            <a:ext cx="1424888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ลูกศรเชื่อมต่อแบบตรง 16"/>
          <p:cNvCxnSpPr/>
          <p:nvPr/>
        </p:nvCxnSpPr>
        <p:spPr>
          <a:xfrm>
            <a:off x="3851920" y="3651870"/>
            <a:ext cx="1424888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ลูกศรเชื่อมต่อแบบตรง 18"/>
          <p:cNvCxnSpPr>
            <a:stCxn id="6" idx="2"/>
          </p:cNvCxnSpPr>
          <p:nvPr/>
        </p:nvCxnSpPr>
        <p:spPr>
          <a:xfrm>
            <a:off x="6732240" y="2067694"/>
            <a:ext cx="0" cy="129614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ลูกศรเชื่อมต่อแบบตรง 19"/>
          <p:cNvCxnSpPr/>
          <p:nvPr/>
        </p:nvCxnSpPr>
        <p:spPr>
          <a:xfrm>
            <a:off x="2427249" y="2067694"/>
            <a:ext cx="0" cy="129614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ชื่อเรื่อง 1"/>
          <p:cNvSpPr txBox="1">
            <a:spLocks/>
          </p:cNvSpPr>
          <p:nvPr/>
        </p:nvSpPr>
        <p:spPr>
          <a:xfrm>
            <a:off x="755576" y="4515966"/>
            <a:ext cx="7704856" cy="504056"/>
          </a:xfrm>
          <a:prstGeom prst="rect">
            <a:avLst/>
          </a:prstGeom>
          <a:solidFill>
            <a:srgbClr val="66FFFF"/>
          </a:solidFill>
          <a:ln>
            <a:solidFill>
              <a:srgbClr val="0000F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แผนกวิชา และงานต่างๆ ในสถานศึกษา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755576" y="1275606"/>
            <a:ext cx="7704856" cy="288032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8" name="ลูกศรเชื่อมต่อแบบตรง 17"/>
          <p:cNvCxnSpPr/>
          <p:nvPr/>
        </p:nvCxnSpPr>
        <p:spPr>
          <a:xfrm>
            <a:off x="2411760" y="3939902"/>
            <a:ext cx="0" cy="57606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ลูกศรเชื่อมต่อแบบตรง 20"/>
          <p:cNvCxnSpPr/>
          <p:nvPr/>
        </p:nvCxnSpPr>
        <p:spPr>
          <a:xfrm>
            <a:off x="6732240" y="3939902"/>
            <a:ext cx="0" cy="57606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 fontScale="90000"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ขั้นตอนการบริหารจัดการงบประมาณ</a:t>
            </a:r>
            <a:b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th-TH" sz="2800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ของงานวางแผนฯ</a:t>
            </a:r>
            <a:endParaRPr lang="th-TH" sz="2800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ชื่อเรื่อง 1"/>
          <p:cNvSpPr txBox="1">
            <a:spLocks/>
          </p:cNvSpPr>
          <p:nvPr/>
        </p:nvSpPr>
        <p:spPr>
          <a:xfrm>
            <a:off x="611560" y="1252348"/>
            <a:ext cx="8424936" cy="17514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th-TH" sz="2400" smtClean="0">
                <a:latin typeface="Tahoma" pitchFamily="34" charset="0"/>
                <a:ea typeface="Tahoma" pitchFamily="34" charset="0"/>
                <a:cs typeface="Tahoma" pitchFamily="34" charset="0"/>
              </a:rPr>
              <a:t>การรายรับรายจ่าย</a:t>
            </a:r>
            <a:r>
              <a:rPr lang="th-TH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ตลอดทั้งปีงบประมาณ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ของสถานศึกษา</a:t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บันทึกรายการรับที่ได้รับในแต่ละครั้ง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นำไปจัดสรรตามประเภทรายจ่าย และลำดับความจำเป็น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ตัดจ่ายเมื่อมีการขอเบิกจ่าย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400" y="3068982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731" y="3068982"/>
            <a:ext cx="257175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6" y="3003798"/>
            <a:ext cx="3420000" cy="175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007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28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94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533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0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32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" y="0"/>
            <a:ext cx="9148464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32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51520" y="411511"/>
            <a:ext cx="8640960" cy="648072"/>
          </a:xfrm>
        </p:spPr>
        <p:txBody>
          <a:bodyPr>
            <a:normAutofit/>
          </a:bodyPr>
          <a:lstStyle/>
          <a:p>
            <a:pPr algn="r"/>
            <a:r>
              <a:rPr lang="th-TH" sz="2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เงื่อนไขความสำเร็จ</a:t>
            </a:r>
            <a:endParaRPr lang="th-TH" sz="2800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8" name="ตัวเชื่อมต่อตรง 7"/>
          <p:cNvCxnSpPr/>
          <p:nvPr/>
        </p:nvCxnSpPr>
        <p:spPr>
          <a:xfrm>
            <a:off x="251520" y="1090026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ชื่อเรื่อง 1"/>
          <p:cNvSpPr txBox="1">
            <a:spLocks/>
          </p:cNvSpPr>
          <p:nvPr/>
        </p:nvSpPr>
        <p:spPr>
          <a:xfrm>
            <a:off x="2029657" y="1779662"/>
            <a:ext cx="3442370" cy="17514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มีวินัยในการปฏิบัติงาน</a:t>
            </a:r>
            <a:b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มีความเพียร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มธุรสวาจา</a:t>
            </a:r>
          </a:p>
          <a:p>
            <a:pPr algn="l"/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4. </a:t>
            </a:r>
            <a:r>
              <a:rPr lang="th-TH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คิดบวก</a:t>
            </a:r>
            <a:endParaRPr lang="th-TH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02" y="2499742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01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356</Words>
  <Application>Microsoft Office PowerPoint</Application>
  <PresentationFormat>นำเสนอทางหน้าจอ (16:9)</PresentationFormat>
  <Paragraphs>111</Paragraphs>
  <Slides>14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14</vt:i4>
      </vt:variant>
    </vt:vector>
  </HeadingPairs>
  <TitlesOfParts>
    <vt:vector size="15" baseType="lpstr">
      <vt:lpstr>ชุดรูปแบบของ Office</vt:lpstr>
      <vt:lpstr>การบริหารจัดการงบประมาณ ของงานวางแผนและงบประมาณ</vt:lpstr>
      <vt:lpstr>ปัญหาที่พบ ในการบริหารจัดการงบประมาณ</vt:lpstr>
      <vt:lpstr>วัตถุประสงค์ของการบริหารจัดการงบประมาณ</vt:lpstr>
      <vt:lpstr>งานนำเสนอ PowerPoint</vt:lpstr>
      <vt:lpstr>รายการรับ</vt:lpstr>
      <vt:lpstr>รายการจ่าย</vt:lpstr>
      <vt:lpstr>แผนผังการบริหารจัดการงบประมาณ</vt:lpstr>
      <vt:lpstr>งานที่เกี่ยวข้องกับการบริหารจัดการงบประมาณ</vt:lpstr>
      <vt:lpstr>ขั้นตอนการบริหารจัดการงบประมาณ ของงานวางแผนฯ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เงื่อนไขความสำเร็จ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โปรแกรมการบริหารงบประมาณ วิทยาลัยการอาชีพนวมินทราชินีแม่ฮ่องสอน</dc:title>
  <dc:creator>User</dc:creator>
  <cp:lastModifiedBy>User</cp:lastModifiedBy>
  <cp:revision>37</cp:revision>
  <dcterms:created xsi:type="dcterms:W3CDTF">2016-11-22T05:48:07Z</dcterms:created>
  <dcterms:modified xsi:type="dcterms:W3CDTF">2022-01-29T06:01:04Z</dcterms:modified>
</cp:coreProperties>
</file>